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87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BA08-092B-0CC9-5F82-C6C44AC2D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438C6-1240-2361-0FB3-0485F7099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0651D-2EE7-0EBA-2CF4-D6D9D9CF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AFF1A-7C58-43C7-2967-337BE7FF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9E52B-C9DD-417B-A716-BCB17B3D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0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AF1F-C99E-6358-213C-CB8B3C1A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DFDB4-3B85-1A0B-1257-0D3C7BAA2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63FF3-DEBD-CB15-51FD-E8B49D5B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6407A-40AC-3D41-B790-1961F3BE5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2D090-4EDF-B0A1-4D0B-6FEE2624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97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A17E-DDB2-C9B1-0B3A-A0938510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31189-DB58-92A4-1976-FDF2B9291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5B20B-489B-6CD8-47CA-209E1CEA3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A28B1-2D8A-A2B9-89FF-A05579CA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2232-040F-B041-0646-A42C06FC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1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75727-6953-E134-C424-6D36BEF3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5B17-B637-63B0-84FD-FB2EA3967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09A93-FC3B-1D0A-2DA6-C3D703171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0476A-7CB5-3E69-CF37-991662C4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4D869-A440-C259-1F00-B944D2AF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2074E-8F30-4B1B-15AB-C3BE1E5A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10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8DD7-8C3E-E21C-D20C-3542C360E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2A38-0C1F-E5B3-4212-70FA75AE2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C24A6-566D-2F6E-8CD8-90E036F13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03704-B2AE-570F-7727-30C808955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18662-EA32-E26C-C81B-F78CC62F1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63295-4637-925A-A883-49E4245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5B8A9-3A5D-1981-7221-801A7053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C4FF2-3E52-9896-C7F6-E18B8A00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44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6EE4-7A15-27D4-1143-968FA994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1B733-18FB-8462-13CB-2F5C970C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E9867-7EE1-C316-2573-3143A722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C4FE3-035C-2320-F70E-EA20A043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75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5C662-8072-8332-ED7D-607234BB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9466D-418B-31B1-9D0A-3FA51EA1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53D2-DD0D-86F7-F650-0151705F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26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94BA-49D8-3AE3-618D-77614857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8D77C-4783-6CD5-4CE7-782993AF8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B6F0E-373C-962F-2BAF-DF5286108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6F2B-9520-2D81-3FF0-C8D370F7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BC70E-7CDA-9304-2D09-EF952589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9C83E-CB03-2622-D7BA-327CFEFD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22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01D1-FF12-4270-F97B-2E24A591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A5A45-EEF0-0E1A-3B97-B75F16BE8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AF322-CCFD-4C6C-8910-EDA224FDA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2287E-F83C-B1DC-55F9-5C560A36F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BDC87-C81E-B654-2562-245D0723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E36A5-7C34-9331-FBB6-EEEA8205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3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11DD-698D-164F-D402-2249CA5B2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BD02A-0D0F-38B0-74AF-459A457D6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B76F0-2806-3D0C-E7B1-7B5EF73E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0F19E-F463-15E7-F977-B0366D42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AE0BB-05CE-D87F-65D5-368F4011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7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34F92-8422-A2CE-245B-D1F24A1F3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B8467-7889-5404-FF49-F543BFA94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22F75-8B74-59EB-3A2A-1E48C70FB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BED07-6538-830A-7F3C-3FE95272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61CA1-80FA-3195-4DF1-F5BD654F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99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F353D0-B203-B350-7709-D6A33C451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80871-94B9-33C0-1B05-A30423DC3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7B25-FF95-2F65-1B85-F484C1445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93669-CA03-42CD-859E-624A9F57DA5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97618-13BA-FF18-E6BF-DC7F585B5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A3DE5-9CCE-F93A-335B-486A984A9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30347-0DBE-4D31-8A9C-A0961B406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59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ca://s/?q=Focus_area_for_exam_improvement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ca://s/?q=Daily_study_schedule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ca://s/?q=OMR_marking_guideline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A82DC-CF66-D80E-CC9B-649CC9D3C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Shravan exam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78BA2-6E6E-61CD-DB0E-B8E6BDD26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4649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7A67CD-5FA7-2459-DEE6-E15A27E4B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2" y="168363"/>
            <a:ext cx="6335009" cy="2124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7C6CE7-069E-CDF3-E9EE-CA150F3DA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2" y="2292734"/>
            <a:ext cx="8545118" cy="126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6CBC8-58C2-3825-169B-CCDA7F54A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35" y="3429000"/>
            <a:ext cx="8716591" cy="1200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12A4C-55CA-5EC7-FD70-27D7A8175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87" y="4629318"/>
            <a:ext cx="8516539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4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809B-345A-890C-2090-2AEEE9B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33B56C-356A-F3E9-E212-9AFE84807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0" y="-146733"/>
            <a:ext cx="8716591" cy="2953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11452E-7F38-8BF9-1639-97666B1A2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24" y="2733985"/>
            <a:ext cx="8649907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07F4-1659-EEF1-96EF-3AC50AC10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58734-A788-A164-7E68-DB4060C6B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1809524"/>
            <a:ext cx="8869013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9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23F2-1D3F-99F6-208C-BBC09F4B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6CED8-C6BC-1825-B905-25BB022B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6" y="483414"/>
            <a:ext cx="9250066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0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ACF3A-9400-28A1-A9BE-566C1C1CC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08A365-9788-A920-C43D-275D7389F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49" y="505276"/>
            <a:ext cx="880232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6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9E2CA3-4A82-1E14-78F8-A3FC209F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4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EFF9F6-366D-FDB7-6FAE-1E5B9CB8C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14696"/>
              </p:ext>
            </p:extLst>
          </p:nvPr>
        </p:nvGraphicFramePr>
        <p:xfrm>
          <a:off x="94590" y="168240"/>
          <a:ext cx="11685606" cy="565643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04644">
                  <a:extLst>
                    <a:ext uri="{9D8B030D-6E8A-4147-A177-3AD203B41FA5}">
                      <a16:colId xmlns:a16="http://schemas.microsoft.com/office/drawing/2014/main" val="1287201355"/>
                    </a:ext>
                  </a:extLst>
                </a:gridCol>
                <a:gridCol w="8180962">
                  <a:extLst>
                    <a:ext uri="{9D8B030D-6E8A-4147-A177-3AD203B41FA5}">
                      <a16:colId xmlns:a16="http://schemas.microsoft.com/office/drawing/2014/main" val="2708669939"/>
                    </a:ext>
                  </a:extLst>
                </a:gridCol>
              </a:tblGrid>
              <a:tr h="192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hlinkClick r:id="rId2" action="ppaction://hlinkfile"/>
                        </a:rPr>
                        <a:t>Focus Area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Action Plan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681323619"/>
                  </a:ext>
                </a:extLst>
              </a:tr>
              <a:tr h="736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1. Physics Hard Mastery</a:t>
                      </a:r>
                      <a:endParaRPr lang="en-IN" sz="140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Dedicate 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1 hour daily to </a:t>
                      </a:r>
                      <a:r>
                        <a:rPr lang="en-IN" sz="1400" b="1" dirty="0">
                          <a:highlight>
                            <a:srgbClr val="FFFF00"/>
                          </a:highlight>
                        </a:rPr>
                        <a:t>conceptual derivations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N" sz="1400" dirty="0"/>
                        <a:t>and </a:t>
                      </a:r>
                      <a:r>
                        <a:rPr lang="en-IN" sz="1400" b="1" dirty="0"/>
                        <a:t>numerical problem sets</a:t>
                      </a:r>
                      <a:r>
                        <a:rPr lang="en-IN" sz="1400" dirty="0"/>
                        <a:t> from topics like kinematics, vectors, and projectile motion. Use Allen’s DLP or NCERT examples to strengthen reasoning speed.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4931331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2. Chemistry Medium Accuracy</a:t>
                      </a:r>
                      <a:endParaRPr lang="en-IN" sz="140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Revise </a:t>
                      </a:r>
                      <a:r>
                        <a:rPr lang="en-IN" sz="1400" b="1" dirty="0"/>
                        <a:t>Physical Chemistry formulas</a:t>
                      </a:r>
                      <a:r>
                        <a:rPr lang="en-IN" sz="1400" dirty="0"/>
                        <a:t> and </a:t>
                      </a:r>
                      <a:r>
                        <a:rPr lang="en-IN" sz="1400" b="1" dirty="0"/>
                        <a:t>Organic reaction mechanisms</a:t>
                      </a:r>
                      <a:r>
                        <a:rPr lang="en-IN" sz="1400" dirty="0"/>
                        <a:t> weekly. 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Practice 30 mixed‑level MCQs per day to reduce careless errors.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882953543"/>
                  </a:ext>
                </a:extLst>
              </a:tr>
              <a:tr h="437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3. Botany Retention Boost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You’re already strong — now focus on </a:t>
                      </a:r>
                      <a:r>
                        <a:rPr lang="en-IN" sz="1400" b="1" dirty="0"/>
                        <a:t>diagram‑based recall</a:t>
                      </a:r>
                      <a:r>
                        <a:rPr lang="en-IN" sz="1400" dirty="0"/>
                        <a:t> (plant anatomy, photosynthesis cycles). Use 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flashcards for quick visual memory reinforcement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098728819"/>
                  </a:ext>
                </a:extLst>
              </a:tr>
              <a:tr h="437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4. Zoology Concept Integration</a:t>
                      </a:r>
                      <a:endParaRPr lang="en-IN" sz="140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Strengthen </a:t>
                      </a:r>
                      <a:r>
                        <a:rPr lang="en-IN" sz="1400" b="1" dirty="0"/>
                        <a:t>Human Physiology and Genetics</a:t>
                      </a:r>
                      <a:r>
                        <a:rPr lang="en-IN" sz="1400" dirty="0"/>
                        <a:t> with NCERT line‑by‑line reading. 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Attempt 20 mixed questions daily to convert </a:t>
                      </a:r>
                      <a:r>
                        <a:rPr lang="en-IN" sz="1400" dirty="0" err="1">
                          <a:highlight>
                            <a:srgbClr val="FFFF00"/>
                          </a:highlight>
                        </a:rPr>
                        <a:t>unattempted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 ones into confident attempts.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961213593"/>
                  </a:ext>
                </a:extLst>
              </a:tr>
              <a:tr h="369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5. Error Log System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Maintain a </a:t>
                      </a:r>
                      <a:r>
                        <a:rPr lang="en-IN" sz="1400" b="1"/>
                        <a:t>mistake notebook</a:t>
                      </a:r>
                      <a:r>
                        <a:rPr lang="en-IN" sz="1400"/>
                        <a:t> — categorize every wrong answer by reason (concept gap, calculation error, misread question). Review it every Sunday.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132174923"/>
                  </a:ext>
                </a:extLst>
              </a:tr>
              <a:tr h="291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6. Timed Practice Blocks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Simulate exam conditions twice a week: 180 questions in 3 hours. 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Track accuracy vs. time per subject</a:t>
                      </a:r>
                      <a:r>
                        <a:rPr lang="en-IN" sz="1400" dirty="0"/>
                        <a:t>. Aim for </a:t>
                      </a:r>
                      <a:r>
                        <a:rPr lang="en-IN" sz="1400" b="1" dirty="0"/>
                        <a:t>&gt;90% accuracy in Easy</a:t>
                      </a:r>
                      <a:r>
                        <a:rPr lang="en-IN" sz="1400" dirty="0"/>
                        <a:t>, </a:t>
                      </a:r>
                      <a:r>
                        <a:rPr lang="en-IN" sz="1400" b="1" dirty="0"/>
                        <a:t>&gt;80% in Medium</a:t>
                      </a:r>
                      <a:r>
                        <a:rPr lang="en-IN" sz="1400" dirty="0"/>
                        <a:t>, </a:t>
                      </a:r>
                      <a:r>
                        <a:rPr lang="en-IN" sz="1400" b="1" dirty="0"/>
                        <a:t>&gt;60% in Hard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517830762"/>
                  </a:ext>
                </a:extLst>
              </a:tr>
              <a:tr h="190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7. Formula &amp; Concept Sheets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Create concise </a:t>
                      </a:r>
                      <a:r>
                        <a:rPr lang="en-IN" sz="1400" b="1"/>
                        <a:t>Physics equations</a:t>
                      </a:r>
                      <a:r>
                        <a:rPr lang="en-IN" sz="1400"/>
                        <a:t>, </a:t>
                      </a:r>
                      <a:r>
                        <a:rPr lang="en-IN" sz="1400" b="1"/>
                        <a:t>Chemistry constants</a:t>
                      </a:r>
                      <a:r>
                        <a:rPr lang="en-IN" sz="1400"/>
                        <a:t>, and </a:t>
                      </a:r>
                      <a:r>
                        <a:rPr lang="en-IN" sz="1400" b="1"/>
                        <a:t>Biology cycles</a:t>
                      </a:r>
                      <a:r>
                        <a:rPr lang="en-IN" sz="1400"/>
                        <a:t> sheets. Review them before sleep — spaced repetition improves recall.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332819507"/>
                  </a:ext>
                </a:extLst>
              </a:tr>
              <a:tr h="45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8. Mock Analysis Routine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After each mock test, compute </a:t>
                      </a:r>
                      <a:r>
                        <a:rPr lang="en-IN" sz="1400" b="1" dirty="0"/>
                        <a:t>marks lost to negatives</a:t>
                      </a:r>
                      <a:r>
                        <a:rPr lang="en-IN" sz="1400" dirty="0"/>
                        <a:t>. Your 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current loss is 29 marks </a:t>
                      </a:r>
                      <a:r>
                        <a:rPr lang="en-IN" sz="1400" dirty="0"/>
                        <a:t>— target &lt;15 by improving question selection discipline.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660630545"/>
                  </a:ext>
                </a:extLst>
              </a:tr>
              <a:tr h="14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9. Mental Conditioning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Practice </a:t>
                      </a:r>
                      <a:r>
                        <a:rPr lang="en-IN" sz="1400" b="1"/>
                        <a:t>focus drills</a:t>
                      </a:r>
                      <a:r>
                        <a:rPr lang="en-IN" sz="1400"/>
                        <a:t> (Pomodoro 25‑min sessions) and </a:t>
                      </a:r>
                      <a:r>
                        <a:rPr lang="en-IN" sz="1400" b="1"/>
                        <a:t>breathing resets</a:t>
                      </a:r>
                      <a:r>
                        <a:rPr lang="en-IN" sz="1400"/>
                        <a:t> during long study hours. Mental clarity boosts precision under pressure.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085642176"/>
                  </a:ext>
                </a:extLst>
              </a:tr>
              <a:tr h="986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10. Weekly Review &amp; Adjustment</a:t>
                      </a:r>
                      <a:endParaRPr lang="en-IN" sz="140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Every Sunday, </a:t>
                      </a:r>
                      <a:r>
                        <a:rPr lang="en-IN" sz="1400" dirty="0">
                          <a:highlight>
                            <a:srgbClr val="FFFF00"/>
                          </a:highlight>
                        </a:rPr>
                        <a:t>compare your progress chart to this plan. Adjust subject focus dynamically</a:t>
                      </a:r>
                      <a:r>
                        <a:rPr lang="en-IN" sz="1400" dirty="0"/>
                        <a:t> — e.g., if Physics improves, shift extra time to Chemistry Hard.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642865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800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026E7-DC2B-44F7-C07B-3CFF65E8B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8" y="246047"/>
            <a:ext cx="11309302" cy="1190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28BDA-A0D4-0566-4274-D12A29CF0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68" y="1436838"/>
            <a:ext cx="7249537" cy="2686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D5D2B5-28FF-FE78-E7AD-A1ACBEFA9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68" y="4199970"/>
            <a:ext cx="8268854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06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674234-2557-916E-3496-F397DB148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669603"/>
              </p:ext>
            </p:extLst>
          </p:nvPr>
        </p:nvGraphicFramePr>
        <p:xfrm>
          <a:off x="164616" y="181651"/>
          <a:ext cx="11314020" cy="609820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85670">
                  <a:extLst>
                    <a:ext uri="{9D8B030D-6E8A-4147-A177-3AD203B41FA5}">
                      <a16:colId xmlns:a16="http://schemas.microsoft.com/office/drawing/2014/main" val="893456124"/>
                    </a:ext>
                  </a:extLst>
                </a:gridCol>
                <a:gridCol w="1885670">
                  <a:extLst>
                    <a:ext uri="{9D8B030D-6E8A-4147-A177-3AD203B41FA5}">
                      <a16:colId xmlns:a16="http://schemas.microsoft.com/office/drawing/2014/main" val="1616442806"/>
                    </a:ext>
                  </a:extLst>
                </a:gridCol>
                <a:gridCol w="1885670">
                  <a:extLst>
                    <a:ext uri="{9D8B030D-6E8A-4147-A177-3AD203B41FA5}">
                      <a16:colId xmlns:a16="http://schemas.microsoft.com/office/drawing/2014/main" val="2996679600"/>
                    </a:ext>
                  </a:extLst>
                </a:gridCol>
                <a:gridCol w="1885670">
                  <a:extLst>
                    <a:ext uri="{9D8B030D-6E8A-4147-A177-3AD203B41FA5}">
                      <a16:colId xmlns:a16="http://schemas.microsoft.com/office/drawing/2014/main" val="1581709822"/>
                    </a:ext>
                  </a:extLst>
                </a:gridCol>
                <a:gridCol w="1885670">
                  <a:extLst>
                    <a:ext uri="{9D8B030D-6E8A-4147-A177-3AD203B41FA5}">
                      <a16:colId xmlns:a16="http://schemas.microsoft.com/office/drawing/2014/main" val="669715944"/>
                    </a:ext>
                  </a:extLst>
                </a:gridCol>
                <a:gridCol w="1885670">
                  <a:extLst>
                    <a:ext uri="{9D8B030D-6E8A-4147-A177-3AD203B41FA5}">
                      <a16:colId xmlns:a16="http://schemas.microsoft.com/office/drawing/2014/main" val="1936632243"/>
                    </a:ext>
                  </a:extLst>
                </a:gridCol>
              </a:tblGrid>
              <a:tr h="413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hlinkClick r:id="rId2" action="ppaction://hlinkfile"/>
                        </a:rPr>
                        <a:t>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6:00 PM – 7:30 PM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7:30 PM – 9:00 PM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9:00 PM – 9:30 PM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9:30 PM – 10:30 PM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Focus Summary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687700762"/>
                  </a:ext>
                </a:extLst>
              </a:tr>
              <a:tr h="767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Monday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Physics Hard (</a:t>
                      </a:r>
                      <a:r>
                        <a:rPr lang="en-IN" sz="1600" dirty="0" err="1"/>
                        <a:t>Numericals</a:t>
                      </a:r>
                      <a:r>
                        <a:rPr lang="en-IN" sz="1600" dirty="0"/>
                        <a:t> + Derivations)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Chemistry Medium (Physical formulas)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Dinner + short walk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Biology (Botany diagrams)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Conceptual start to week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667892925"/>
                  </a:ext>
                </a:extLst>
              </a:tr>
              <a:tr h="767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Tuesday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Zoology Medium (Human Physiology)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Physics Easy/Medium (Concept recall)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Dinner + relaxation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Chemistry Organic reactions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Reinforce fundamentals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819411087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Wednesday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Botany Medium (NCERT line‑by‑line)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Physics Hard (Kinematics + Vectors)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Dinner + breathing reset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Mock mini‑test (30 Qs)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Mid‑week performance check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822986525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Thursday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Chemistry Hard (Reaction mechanisms)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Zoology Easy (Quick MCQs)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Dinner + short walk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Physics formula sheet review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Strengthen weak Chemistry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89222134"/>
                  </a:ext>
                </a:extLst>
              </a:tr>
              <a:tr h="944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Friday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Full‑subject mixed MCQs (Physics + Chemistry + Biology)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Error‑log analysis (review wrong answers)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Dinner + relax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Revision of top 20 missed concepts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Consolidation day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771292015"/>
                  </a:ext>
                </a:extLst>
              </a:tr>
              <a:tr h="767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Saturday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Mock Test (180 Qs / 3 hrs 6:00–9:00 PM)**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Simulate exam conditions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258178224"/>
                  </a:ext>
                </a:extLst>
              </a:tr>
              <a:tr h="767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Sunday</a:t>
                      </a:r>
                      <a:endParaRPr lang="en-IN" sz="1600"/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Morning (8:00–10:00 AM): Biology full revision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Afternoon (3:00–5:00 PM): Physics Hard practice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Evening (7:00–9:00 PM): Chemistry Medium review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Weekly review + adjustment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621060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5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CB604-B1E7-CA81-8306-F59B03124BCB}"/>
              </a:ext>
            </a:extLst>
          </p:cNvPr>
          <p:cNvSpPr txBox="1"/>
          <p:nvPr/>
        </p:nvSpPr>
        <p:spPr>
          <a:xfrm>
            <a:off x="0" y="126858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OMR mistakes can easily cost 20–30 marks, so eliminating them is critical for your 700‑mark target. </a:t>
            </a:r>
            <a:r>
              <a:rPr lang="en-US" dirty="0"/>
              <a:t>Here’s a structured strategy to ensure zero OMR errors: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3B563-D40B-D029-3099-633352A372AE}"/>
              </a:ext>
            </a:extLst>
          </p:cNvPr>
          <p:cNvSpPr txBox="1"/>
          <p:nvPr/>
        </p:nvSpPr>
        <p:spPr>
          <a:xfrm>
            <a:off x="150779" y="773189"/>
            <a:ext cx="611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Guidelines to Avoid OMR Mistakes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75B87-0877-B617-2DA7-D5B534A5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80" y="1242300"/>
            <a:ext cx="8373644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09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FDBA07-56BE-4592-2B0C-9E4045AAF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015843"/>
              </p:ext>
            </p:extLst>
          </p:nvPr>
        </p:nvGraphicFramePr>
        <p:xfrm>
          <a:off x="215770" y="205548"/>
          <a:ext cx="11613064" cy="607745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70621">
                  <a:extLst>
                    <a:ext uri="{9D8B030D-6E8A-4147-A177-3AD203B41FA5}">
                      <a16:colId xmlns:a16="http://schemas.microsoft.com/office/drawing/2014/main" val="1252150234"/>
                    </a:ext>
                  </a:extLst>
                </a:gridCol>
                <a:gridCol w="8842443">
                  <a:extLst>
                    <a:ext uri="{9D8B030D-6E8A-4147-A177-3AD203B41FA5}">
                      <a16:colId xmlns:a16="http://schemas.microsoft.com/office/drawing/2014/main" val="246154396"/>
                    </a:ext>
                  </a:extLst>
                </a:gridCol>
              </a:tblGrid>
              <a:tr h="263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hlinkClick r:id="rId2" action="ppaction://hlinkfile"/>
                        </a:rPr>
                        <a:t>Step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Action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007382715"/>
                  </a:ext>
                </a:extLst>
              </a:tr>
              <a:tr h="65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1. Fixed Marking Rhythm</a:t>
                      </a:r>
                      <a:endParaRPr lang="en-IN" sz="160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Always mark OMR </a:t>
                      </a:r>
                      <a:r>
                        <a:rPr lang="en-IN" sz="1600" b="1"/>
                        <a:t>after every 10 questions</a:t>
                      </a:r>
                      <a:r>
                        <a:rPr lang="en-IN" sz="1600"/>
                        <a:t> instead of at the end. This prevents last‑minute rush and reduces skipped bubbles.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658349814"/>
                  </a:ext>
                </a:extLst>
              </a:tr>
              <a:tr h="65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2. Double‑Check Question Number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Before shading, glance at the </a:t>
                      </a:r>
                      <a:r>
                        <a:rPr lang="en-IN" sz="1600" b="1"/>
                        <a:t>question number on paper and OMR row</a:t>
                      </a:r>
                      <a:r>
                        <a:rPr lang="en-IN" sz="1600"/>
                        <a:t>. Train yourself to say it mentally: “Q45 → Row 45.”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608636253"/>
                  </a:ext>
                </a:extLst>
              </a:tr>
              <a:tr h="65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3. Use Pencil Practice, Pen in Exam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Practice with pencil at home to simulate shading speed, but in exam use </a:t>
                      </a:r>
                      <a:r>
                        <a:rPr lang="en-IN" sz="1600" b="1"/>
                        <a:t>black ball‑point pen</a:t>
                      </a:r>
                      <a:r>
                        <a:rPr lang="en-IN" sz="1600"/>
                        <a:t> (mandatory).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090966126"/>
                  </a:ext>
                </a:extLst>
              </a:tr>
              <a:tr h="46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4. Avoid Over‑shading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Fill bubbles cleanly — avoid pressing too hard or overlapping. Smudges can confuse scanners.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514911637"/>
                  </a:ext>
                </a:extLst>
              </a:tr>
              <a:tr h="46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5. Cross‑verify Every Page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After finishing each OMR page, quickly scan rows to ensure no blanks or double marks.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951297010"/>
                  </a:ext>
                </a:extLst>
              </a:tr>
              <a:tr h="46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6. Keep 15 Minutes Buffer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Reserve last 15 minutes of exam solely for </a:t>
                      </a:r>
                      <a:r>
                        <a:rPr lang="en-IN" sz="1600" b="1"/>
                        <a:t>OMR verification</a:t>
                      </a:r>
                      <a:r>
                        <a:rPr lang="en-IN" sz="1600"/>
                        <a:t> — not solving new questions.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603811623"/>
                  </a:ext>
                </a:extLst>
              </a:tr>
              <a:tr h="65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7. Error‑log Simulation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 mocks, note every OMR mistake (wrong row, skipped bubble). Review weekly to see if errors reduce.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866013481"/>
                  </a:ext>
                </a:extLst>
              </a:tr>
              <a:tr h="65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8. Use Finger Tracking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Place one finger on the question paper number and the other on the OMR sheet row while shading. This physical anchor reduces misalignment.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766945528"/>
                  </a:ext>
                </a:extLst>
              </a:tr>
              <a:tr h="46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9. Don’t Delay Marking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Never postpone OMR filling till the end — fatigue + time pressure = maximum errors.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86035232"/>
                  </a:ext>
                </a:extLst>
              </a:tr>
              <a:tr h="65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10. Practice with Real OMR Sheets</a:t>
                      </a:r>
                      <a:endParaRPr lang="en-IN" sz="16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At least </a:t>
                      </a:r>
                      <a:r>
                        <a:rPr lang="en-IN" sz="1600" b="1" dirty="0"/>
                        <a:t>2 mocks per week</a:t>
                      </a:r>
                      <a:r>
                        <a:rPr lang="en-IN" sz="1600" dirty="0"/>
                        <a:t> should be done on actual OMR sheets, not online. Build muscle memory for shading speed and accuracy.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680080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70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849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Shravan exam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Jitendra Rai</dc:creator>
  <cp:lastModifiedBy>Jitendra Rai</cp:lastModifiedBy>
  <cp:revision>15</cp:revision>
  <dcterms:created xsi:type="dcterms:W3CDTF">2026-08-10T15:42:54Z</dcterms:created>
  <dcterms:modified xsi:type="dcterms:W3CDTF">2026-08-11T08:11:02Z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2026-08-10T15:43:00Z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a10272a8-a4ad-47af-95d8-0bacaa35fe91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